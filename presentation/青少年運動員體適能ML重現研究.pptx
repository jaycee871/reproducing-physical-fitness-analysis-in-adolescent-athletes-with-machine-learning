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350" b="1" i="0" u="none" strike="noStrike">
                <a:solidFill>
                  <a:srgbClr val="0B3C5D"/>
                </a:solidFill>
                <a:latin typeface="Microsoft JhengHei"/>
              </a:defRPr>
            </a:pPr>
            <a:r>
              <a:rPr sz="1350" b="1" i="0" u="none" strike="noStrike">
                <a:solidFill>
                  <a:srgbClr val="0B3C5D"/>
                </a:solidFill>
                <a:latin typeface="Microsoft JhengHei"/>
              </a:rPr>
              <a:t>四種模型準確率（Accuracy, %）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733"/>
                    </a:solidFill>
                    <a:latin typeface="Microsoft JhengHe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SVM</c:v>
                </c:pt>
                <c:pt idx="2">
                  <c:v>Random
Forest</c:v>
                </c:pt>
                <c:pt idx="3">
                  <c:v>Logistic
Regression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66.900000000000006</c:v>
                </c:pt>
                <c:pt idx="1">
                  <c:v>60.63</c:v>
                </c:pt>
                <c:pt idx="2">
                  <c:v>60.63</c:v>
                </c:pt>
                <c:pt idx="3">
                  <c:v>49.48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E8-4624-AD82-C6100CC7D2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F7E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DC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772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1936" y="67665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148572" y="690372"/>
            <a:ext cx="173736" cy="173736"/>
          </a:xfrm>
          <a:prstGeom prst="ellipse">
            <a:avLst/>
          </a:prstGeom>
          <a:solidFill>
            <a:srgbClr val="6FB1C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9637776" y="67665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154412" y="690372"/>
            <a:ext cx="173736" cy="173736"/>
          </a:xfrm>
          <a:prstGeom prst="ellipse">
            <a:avLst/>
          </a:prstGeom>
          <a:solidFill>
            <a:srgbClr val="6FB1C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0643616" y="67665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6F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研究重現簡報　REPRODUCIBILITY STUDY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6596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青少年男性運動員體適能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機器學習分析重現研究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033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F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Reproducing Physical Fitness Analysis in Adolescent Athletes with Machine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4526280"/>
            <a:ext cx="457200" cy="4114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葉倖妤</a:t>
            </a: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r>
              <a:rPr lang="en-US" altLang="zh-TW" dirty="0">
                <a:solidFill>
                  <a:schemeClr val="bg1"/>
                </a:solidFill>
              </a:rPr>
              <a:t>YE, </a:t>
            </a:r>
            <a:r>
              <a:rPr lang="en-US" altLang="zh-TW" dirty="0" err="1">
                <a:solidFill>
                  <a:schemeClr val="bg1"/>
                </a:solidFill>
              </a:rPr>
              <a:t>XING-YU</a:t>
            </a:r>
            <a:r>
              <a:rPr lang="en-US" sz="17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（Eileen</a:t>
            </a: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66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C4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中國文化大學 資訊管理學系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C4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Department of Information Management, Chinese Culture University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6035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F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重現研究　Reproduction Study ｜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研究背景　BACKGROUND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原始研究（Original Study）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297680"/>
          </a:xfrm>
          <a:prstGeom prst="roundRect">
            <a:avLst>
              <a:gd name="adj" fmla="val 1702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008" cy="4297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原始研究文獻（Original Publication）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Lee, Y.-H., Chang, J., Lee, J.-E., Jung, Y.-S., Lee, D., &amp; Lee, H.-S. (2024).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“Essential elements of physical fitness analysis in male adolescent athletes using machine learning.”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86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PLOS ONE, 19(4), e0298870.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519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DOI：https://doi.org/10.1371/journal.pone.0298870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754880"/>
            <a:ext cx="566928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49377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原作者公開程式碼（Original Authors' Public Code）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23036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github.com/YunhwanJacobLee/Essential-elements-of-physical-fitness-analysis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51776" y="18653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7351776" y="1865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研究對象（Subjects）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09397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青少年男性運動員（Adolescent male athletes）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51776" y="3282696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7351776" y="3282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分析方法（Method）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51129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多種機器學習分類模型（Multiple ML classification models）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51776" y="4700016"/>
            <a:ext cx="566928" cy="566928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7351776" y="4700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617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研究目標（Goal）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492861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找出體適能關鍵指標（Identify key physical-fitness indicators）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研究設計　RATIONALE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研究動機與目的（Motivation ＆ Objectives）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3852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研究動機（Motivation）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機器學習研究常缺乏可重現性（reproducibility），公開資料與程式碼不代表結果可被驗證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以學妹（葉倖妤）的田徑選手背景為出發點，選定體適能主題進行重現練習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透過重現既有論文，學習稽核（audit）論文、程式碼、資料三者間是否一致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537960" y="192024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6537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◎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3852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研究目的（Objectives）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78892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建立一套可在 GitHub Actions 中重新執行、留下紀錄的重現流程（reproduction pipeline）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完整稽核論文、程式碼、資料三者間的一致性，保留而非猜測差異</a:t>
            </a:r>
            <a:endParaRPr lang="en-US" sz="1350" dirty="0"/>
          </a:p>
          <a:p>
            <a:pPr marL="177800" indent="-1778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比較「論文描述」與「公開 notebook」兩種前處理協定對結果的影響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　DATA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資料集介紹（Dataset Overview）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10512"/>
            <a:ext cx="242316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1,434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606040"/>
            <a:ext cx="2459736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筆資料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（Rows）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3447288" y="1810512"/>
            <a:ext cx="242316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606040"/>
            <a:ext cx="2459736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（Columns）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6254496" y="1810512"/>
            <a:ext cx="242316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606040"/>
            <a:ext cx="2459736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體適能特徵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（Fitness Features）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9061704" y="1810512"/>
            <a:ext cx="2423160" cy="880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043416" y="2606040"/>
            <a:ext cx="2459736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運動類別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（Sport Classes）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五種運動類別（Five Sport Categories）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2121408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594360" y="39319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足球（Football）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07208" y="3931920"/>
            <a:ext cx="2121408" cy="502920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2852928" y="39319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田徑（Track ＆ Field）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65776" y="3931920"/>
            <a:ext cx="2121408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5111496" y="39319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棒球（Baseball）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24344" y="3931920"/>
            <a:ext cx="2121408" cy="502920"/>
          </a:xfrm>
          <a:prstGeom prst="roundRect">
            <a:avLst>
              <a:gd name="adj" fmla="val 50000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7370064" y="39319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游泳（Swimming）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582912" y="3931920"/>
            <a:ext cx="2121408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9628632" y="393192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羽球（Badminton）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資料品質檢查（Data Quality Check）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800100" y="54178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800100" y="5417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349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遺漏值（Missing Values）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5596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080760" y="5212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6332220" y="541782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 txBox="1"/>
          <p:nvPr/>
        </p:nvSpPr>
        <p:spPr>
          <a:xfrm>
            <a:off x="6332220" y="54178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5349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重複資料列（Duplicate Rows）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55961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　METHODOLOGY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重現流程（Reproduction Pipeline）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48" y="1600200"/>
            <a:ext cx="0" cy="4846320"/>
          </a:xfrm>
          <a:prstGeom prst="line">
            <a:avLst/>
          </a:prstGeom>
          <a:noFill/>
          <a:ln w="254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916168" y="14173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5916168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307592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原始素材保存＋SHA-256 完整性檢查</a:t>
            </a:r>
            <a:endParaRPr lang="en-US" sz="12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（Source Inventory ＋ SHA-256）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16168" y="2109651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5916168" y="210965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01968" y="1999923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資料集檢查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（Dataset Inspection）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16168" y="2801983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5916168" y="280198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692255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論文－程式碼－資料稽核</a:t>
            </a:r>
            <a:endParaRPr lang="en-US" sz="12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（Paper–Code–Data Audit）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16168" y="349431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916168" y="349431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3384586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前處理重建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（Preprocessing Reconstruction）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16168" y="418664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5916168" y="418664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076918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多類別診斷基準</a:t>
            </a:r>
            <a:endParaRPr lang="en-US" sz="12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（Multiclass Diagnostic Baseline）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16168" y="4878977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5916168" y="487897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01968" y="4769249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傳統模型比較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（Classical Model Comparison）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16168" y="5571309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5916168" y="557130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461581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十配對二元 XGBoost 重現</a:t>
            </a:r>
            <a:endParaRPr lang="en-US" sz="1200" dirty="0"/>
          </a:p>
          <a:p>
            <a:pPr marL="0" indent="0" algn="r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（10-Pair Binary XGBoost）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16168" y="626364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5916168" y="6263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01968" y="6153912"/>
            <a:ext cx="5029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最終重現總結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（Final Reproduction Summary）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稽核發現　AUDIT FINDINGS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論文－程式碼－資料一致性稽核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重現過程中保留、而非以猜測方式補齊的差異（Discrepancies preserved as findings, not guessed away）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95528" y="2313432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795528" y="2313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65960"/>
            <a:ext cx="43434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論文摘要記載 1,489 名運動員，但 Methods 與公開 CSV 皆為 1,434 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87452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327648" y="2313432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6327648" y="23134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965960"/>
            <a:ext cx="43434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notebook 保存之五類 class counts 加總為 2,427，與資料列數不一致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95528" y="3776472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795528" y="3776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429000"/>
            <a:ext cx="43434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使用 teen_running_soccer／teen_runsoc_target 欄位，其建立過程未公開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327648" y="3776472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6327648" y="3776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429000"/>
            <a:ext cx="43434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 numeric class mapping（數值類別對應）未公開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795528" y="5239512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795528" y="5239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892040"/>
            <a:ext cx="43434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論文描述將資料縮放至 −1～1，但公開 notebook 實際使用 StandardScaler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80760" y="480060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327648" y="5239512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6327648" y="5239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4892040"/>
            <a:ext cx="43434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論文提及之 1,000-epoch random hyperparameter search 完整紀錄無法從公開素材復原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結果比較　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多類別診斷基準比較（Multiclass Diagnostic Comparison）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83080"/>
          <a:ext cx="64922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XGBoost 在準確率（Accuracy）與 Macro F1 兩項指標皆為四種模型中最高者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78308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Macro F1 分數（Macro F1 Score）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0" y="2194560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 txBox="1"/>
          <p:nvPr/>
        </p:nvSpPr>
        <p:spPr>
          <a:xfrm>
            <a:off x="7498080" y="219456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模型（Model）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332720" y="2194560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Macro F1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2761488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FE1D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 txBox="1"/>
          <p:nvPr/>
        </p:nvSpPr>
        <p:spPr>
          <a:xfrm>
            <a:off x="7498080" y="276148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332720" y="276148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0.6074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0" y="3328416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 txBox="1"/>
          <p:nvPr/>
        </p:nvSpPr>
        <p:spPr>
          <a:xfrm>
            <a:off x="7498080" y="332841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SVM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3328416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0.4739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0" y="3895344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 txBox="1"/>
          <p:nvPr/>
        </p:nvSpPr>
        <p:spPr>
          <a:xfrm>
            <a:off x="7498080" y="3895344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0" y="3895344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0.5602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0" y="4462272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 txBox="1"/>
          <p:nvPr/>
        </p:nvSpPr>
        <p:spPr>
          <a:xfrm>
            <a:off x="7498080" y="446227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332720" y="446227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0.4742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51663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註：此為多類別（multiclass）診斷用基準，不直接與原論文之十配對二元分類準確率比較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重現方法　PROTOCOLS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十配對二元 XGBoost 重現方法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228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論文描述協定（Paper-Description Protocol）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786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 Global stratified 80/20 split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346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9992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 Select pair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255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4198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 MinMaxScaler（−1～1）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6758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840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 SMOTE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0965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2611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 XGBoost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892040"/>
            <a:ext cx="480060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平均準確率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（Mean Accuracy）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50292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F6B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87.22%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263640" y="2148840"/>
            <a:ext cx="5349240" cy="22860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6537960" y="16916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Notebook 協定（Public-Notebook Protocol）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5786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 Select pair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28346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29992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 Stratified 80/20 split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25526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34198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 StandardScaler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6758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38404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 SMOTE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0965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42611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 XGBoost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7960" y="4892040"/>
            <a:ext cx="4800600" cy="0"/>
          </a:xfrm>
          <a:prstGeom prst="line">
            <a:avLst/>
          </a:prstGeom>
          <a:noFill/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 txBox="1"/>
          <p:nvPr/>
        </p:nvSpPr>
        <p:spPr>
          <a:xfrm>
            <a:off x="6537960" y="5029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平均準確率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（Mean Accuracy）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50292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FF6B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89.20%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核心結果　KEY 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最重要結果（Key Results）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原論文主要結果來自五種運動兩兩配對，共 10 個二元分類任務（10 binary classification tasks）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2130552"/>
            <a:ext cx="3246120" cy="1383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90.14%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474720"/>
            <a:ext cx="328269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論文報告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（Paper Reported）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1F5F8"/>
          </a:solidFill>
          <a:ln/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343400" y="2130552"/>
            <a:ext cx="3246120" cy="1383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87.22%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325112" y="3474720"/>
            <a:ext cx="328269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論文描述重建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（Paper-Description Reconstruction）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19659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FE1D0"/>
          </a:solidFill>
          <a:ln/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8046720" y="2130552"/>
            <a:ext cx="3246120" cy="1383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6B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89.20%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028432" y="3474720"/>
            <a:ext cx="328269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Notebook 重建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（Public-Notebook Reconstruction）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0789920" cy="1143000"/>
          </a:xfrm>
          <a:prstGeom prst="roundRect">
            <a:avLst>
              <a:gd name="adj" fmla="val 6400"/>
            </a:avLst>
          </a:prstGeom>
          <a:solidFill>
            <a:srgbClr val="082A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914400" y="4892040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與論文報告結果平均差距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89204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0.94 個百分點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4892040"/>
            <a:ext cx="1371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（percentage points）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　DISCUSSION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結果解讀與重現邊界（Interpretation ＆ Boundaries）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880360"/>
          </a:xfrm>
          <a:prstGeom prst="roundRect">
            <a:avLst>
              <a:gd name="adj" fmla="val 2540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 XGBoost 參數設定（Fixed Configuration）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max_features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0.353969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691640"/>
            <a:ext cx="55321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blurRad="76200" dist="25400" dir="5400000" algn="bl" rotWithShape="0">
              <a:srgbClr val="1A2733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00800" y="18745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重現邊界（Reproduction Boundaries）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3317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原論文提及 1,000-epoch random hyperparameter search，但公開材料不足以完整還原每組 pair 的最佳參數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組 pairwise XGBoost 採用公開 notebook 中最後可見之固定 configuration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本專案的結論應理解為：從公開材料出發的高度貼近重建，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而非對原作者原始流程的精確逐步複製。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F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“A close reconstruction from publicly available materials, rather than an exact execution-level replication of the authors' original pipeline.”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重現基礎建設　INFRASTRUCTURE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 自動化（Automation）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86384" y="187452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86384" y="1874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9164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Fetch original research materials（取得原始研究素材）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409944" y="187452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9944" y="1874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691640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Dataset inspection（資料集檢查）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86384" y="277063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786384" y="2770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587752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Paper code data audit（論文程式碼資料稽核）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2587752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409944" y="2770632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9944" y="2770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587752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Preprocessing reconstruction audit（前處理重建稽核）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786384" y="366674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 txBox="1"/>
          <p:nvPr/>
        </p:nvSpPr>
        <p:spPr>
          <a:xfrm>
            <a:off x="786384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483864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Logistic regression baseline（羅吉斯迴歸基準）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483864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409944" y="366674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 txBox="1"/>
          <p:nvPr/>
        </p:nvSpPr>
        <p:spPr>
          <a:xfrm>
            <a:off x="6409944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483864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Classical model comparison（傳統模型比較）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379976"/>
            <a:ext cx="10972800" cy="713232"/>
          </a:xfrm>
          <a:prstGeom prst="roundRect">
            <a:avLst>
              <a:gd name="adj" fmla="val 10256"/>
            </a:avLst>
          </a:prstGeom>
          <a:solidFill>
            <a:srgbClr val="FFE1D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786384" y="4562856"/>
            <a:ext cx="347472" cy="34747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 txBox="1"/>
          <p:nvPr/>
        </p:nvSpPr>
        <p:spPr>
          <a:xfrm>
            <a:off x="786384" y="4562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379976"/>
            <a:ext cx="10104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XGBoost 10-pair binary reproduction（十配對二元 XGBoost 重現）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367528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082A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 txBox="1"/>
          <p:nvPr/>
        </p:nvSpPr>
        <p:spPr>
          <a:xfrm>
            <a:off x="914400" y="5367528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不需依賴特定個人電腦環境即可重新觸發主要分析流程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（No dependency on a specific personal computing environment）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FB1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總結　CONCLUSION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結論（Conclusion）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189280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892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核心重現流程已完成，涵蓋從原始素材稽核到最終結果比較的完整鏈路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294436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2944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346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 Notebook 協定達到與論文報告最接近的結果（89.20% vs 90.14%，差距約 0.94 個百分點）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399592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39959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8862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論文、程式碼與資料間的不一致，皆完整保留為稽核紀錄，而非以猜測方式補齊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" y="504748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749808" y="5047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9377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本研究定位為「重現稽核（reproducibility audit）」，而非對原作者流程的精確複製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C4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　REFERENCES ＆ RESOURCES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參考文獻與資源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原始文獻（Original Publication）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3911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Lee, Y.-H., Chang, J., Lee, J.-E., Jung, Y.-S., Lee, D., &amp; Lee, H.-S. (2024). Essential elements of physical fitness analysis in male adolescent athletes using machine learning. PLOS ONE, 19(4), e0298870. https://doi.org/10.1371/journal.pone.0298870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原作者公開程式碼（Original Authors' Code）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9067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github.com/YunhwanJacobLee/Essential-elements-of-physical-fitness-analysis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84048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本重現專案（This Reproduction Repository）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4223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github.com/Jaycee871/Reproducing-Physical-Fitness-Analysis-in-Adolescent-Athletes-with-Machine-Learning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982980" y="5253228"/>
            <a:ext cx="685800" cy="685800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982980" y="52532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葉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52578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葉倖妤（Eileen Yeh）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5577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中國文化大學 資訊管理學系（Department of Information Management, Chinese Culture University）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F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</Words>
  <Application>Microsoft Office PowerPoint</Application>
  <PresentationFormat>寬螢幕</PresentationFormat>
  <Paragraphs>246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Microsoft JhengHei</vt:lpstr>
      <vt:lpstr>Arial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倖妤 葉</cp:lastModifiedBy>
  <cp:revision>2</cp:revision>
  <dcterms:created xsi:type="dcterms:W3CDTF">2026-09-22T14:38:15Z</dcterms:created>
  <dcterms:modified xsi:type="dcterms:W3CDTF">2026-09-22T14:45:52Z</dcterms:modified>
</cp:coreProperties>
</file>